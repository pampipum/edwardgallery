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tone: execution over hype. Emphasize business outcomes, risk discipline, and realistic timelines.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German snippet if useful: 'Entscheidungsreife statt Hype.'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urgency without panic: waiting 12 months increases catch-up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KPI set: cycle time, error rate, unit cost, compliance incidents, adoption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this as portfolio design, not brand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benchmark harness on internal tasks before committing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geopolitics-heavy framing; keep it procurement and risk focused.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agents are not autonomous by default; they are controllable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a practical architecture example: controlled autonomy in enterprise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copilots as on-ramp, not end-state.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out need for citation, freshness checks, and access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narrow scope first, then scale once quality thresholds are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monthly governance forum and quarterly value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legal details in appendix; emphasize practical controls in main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where humans must approve before action (finance, legal, customer commitments).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 model updates like software releases with QA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leader should co-own deployment standards with AI platform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clearly: poor data readiness is the #1 reason RAG pilots underperform.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6 gates: differentiation, risk, speed, integration, talent, TCO.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German snippet option: 'Nächster Schritt: Entscheidung in 2 Wochen.'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Ideal early use case due clear volume and measurable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fit for multilingual Swiss market dynamics.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case for controlled agentic automation in finance 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concrete asks and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in 2026: Practical Adoption for Swiss Mid-Size Enterprises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Briefing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AI value now depends on operating model, not model novelty</a:t>
            </a:r>
          </a:p>
          <a:p>
            <a:pPr>
              <a:defRPr sz="2400"/>
            </a:pPr>
            <a:r>
              <a:t>Winners combine fast pilots with governance-by-design</a:t>
            </a:r>
          </a:p>
          <a:p>
            <a:pPr>
              <a:defRPr sz="2400"/>
            </a:pPr>
            <a:r>
              <a:t>Focus on workflow redesign, not chatbot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 (2025 -&gt;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Model capability is sufficient for enterprise-grade use cases</a:t>
            </a:r>
          </a:p>
          <a:p>
            <a:pPr>
              <a:defRPr sz="2400"/>
            </a:pPr>
            <a:r>
              <a:t>Cost/performance improved; choice increased across vendors</a:t>
            </a:r>
          </a:p>
          <a:p>
            <a:pPr>
              <a:defRPr sz="2400"/>
            </a:pPr>
            <a:r>
              <a:t>Competitors are moving from pilots to operating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Economics (CFO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Measure cost per workflow outcome, not only per-token cost</a:t>
            </a:r>
          </a:p>
          <a:p>
            <a:pPr>
              <a:defRPr sz="2400"/>
            </a:pPr>
            <a:r>
              <a:t>Track quality-adjusted productivity and rework reduction</a:t>
            </a:r>
          </a:p>
          <a:p>
            <a:pPr>
              <a:defRPr sz="2400"/>
            </a:pPr>
            <a:r>
              <a:t>Use stage-gates to stop weak pilots quickly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Frontier Landscape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Closed ecosystems: strongest managed tooling and enterprise packaging</a:t>
            </a:r>
          </a:p>
          <a:p>
            <a:pPr>
              <a:defRPr sz="2400"/>
            </a:pPr>
            <a:r>
              <a:t>Open-weight ecosystem: flexibility, lower lock-in, controllable deployment</a:t>
            </a:r>
          </a:p>
          <a:p>
            <a:pPr>
              <a:defRPr sz="2400"/>
            </a:pPr>
            <a:r>
              <a:t>Multi-model architecture is now a practical default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vs Closed: Decision Lens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Performance on your tasks and languages (EN/DE/FR)</a:t>
            </a:r>
          </a:p>
          <a:p>
            <a:pPr>
              <a:defRPr sz="2400"/>
            </a:pPr>
            <a:r>
              <a:t>Compliance posture: data handling, traceability, controls</a:t>
            </a:r>
          </a:p>
          <a:p>
            <a:pPr>
              <a:defRPr sz="2400"/>
            </a:pPr>
            <a:r>
              <a:t>Portability and 24-month total cost of ownership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Chinese Model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Rapid open-weight progress (e.g., DeepSeek, Qwen families)</a:t>
            </a:r>
          </a:p>
          <a:p>
            <a:pPr>
              <a:defRPr sz="2400"/>
            </a:pPr>
            <a:r>
              <a:t>Stronger buyer leverage on price/performance globally</a:t>
            </a:r>
          </a:p>
          <a:p>
            <a:pPr>
              <a:defRPr sz="2400"/>
            </a:pPr>
            <a:r>
              <a:t>Higher due diligence needs: provenance, security, jurisdiction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Agents Wave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Copilot -&gt; Agent -&gt; Multi-agent workflow orchestration</a:t>
            </a:r>
          </a:p>
          <a:p>
            <a:pPr>
              <a:defRPr sz="2400"/>
            </a:pPr>
            <a:r>
              <a:t>Agents add tool use, memory, planning, and handoffs</a:t>
            </a:r>
          </a:p>
          <a:p>
            <a:pPr>
              <a:defRPr sz="2400"/>
            </a:pPr>
            <a:r>
              <a:t>Value rises with guardrails, observability, and fallback paths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OpenClaw Practical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Agent loop with explicit tools and state</a:t>
            </a:r>
          </a:p>
          <a:p>
            <a:pPr>
              <a:defRPr sz="2400"/>
            </a:pPr>
            <a:r>
              <a:t>Human approvals for external/high-risk actions</a:t>
            </a:r>
          </a:p>
          <a:p>
            <a:pPr>
              <a:defRPr sz="2400"/>
            </a:pPr>
            <a:r>
              <a:t>Auditable actions and repeatable runbooks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Pattern 1: Copilots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Fastest time-to-value for individual productivity</a:t>
            </a:r>
          </a:p>
          <a:p>
            <a:pPr>
              <a:defRPr sz="2400"/>
            </a:pPr>
            <a:r>
              <a:t>Low integration burden; easy to launch</a:t>
            </a:r>
          </a:p>
          <a:p>
            <a:pPr>
              <a:defRPr sz="2400"/>
            </a:pPr>
            <a:r>
              <a:t>Risk: limited process impact if not connected to workflows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Pattern 2: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Grounded answers from internal documents and policies</a:t>
            </a:r>
          </a:p>
          <a:p>
            <a:pPr>
              <a:defRPr sz="2400"/>
            </a:pPr>
            <a:r>
              <a:t>Effectiveness depends on data quality and permissions</a:t>
            </a:r>
          </a:p>
          <a:p>
            <a:pPr>
              <a:defRPr sz="2400"/>
            </a:pPr>
            <a:r>
              <a:t>Best for knowledge-heavy support and decision preparation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Pattern 3: Agentic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Automates multi-step work across systems</a:t>
            </a:r>
          </a:p>
          <a:p>
            <a:pPr>
              <a:defRPr sz="2400"/>
            </a:pPr>
            <a:r>
              <a:t>Highest upside for operations and back-office processes</a:t>
            </a:r>
          </a:p>
          <a:p>
            <a:pPr>
              <a:defRPr sz="2400"/>
            </a:pPr>
            <a:r>
              <a:t>Requires strict testing, rollback, and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Operating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Business product owner accountable for outcomes</a:t>
            </a:r>
          </a:p>
          <a:p>
            <a:pPr>
              <a:defRPr sz="2400"/>
            </a:pPr>
            <a:r>
              <a:t>AI platform team provides shared capabilities</a:t>
            </a:r>
          </a:p>
          <a:p>
            <a:pPr>
              <a:defRPr sz="2400"/>
            </a:pPr>
            <a:r>
              <a:t>Risk/compliance embedded from design to 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 and Swiss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EU AI Act obligations phased across 2025-2027</a:t>
            </a:r>
          </a:p>
          <a:p>
            <a:pPr>
              <a:defRPr sz="2400"/>
            </a:pPr>
            <a:r>
              <a:t>Swiss FADP already applies to AI data processing</a:t>
            </a:r>
          </a:p>
          <a:p>
            <a:pPr>
              <a:defRPr sz="2400"/>
            </a:pPr>
            <a:r>
              <a:t>Implement controls now; do not wait for perfect legal clarity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Oversight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Human-in-the-loop for high-impact decisions</a:t>
            </a:r>
          </a:p>
          <a:p>
            <a:pPr>
              <a:defRPr sz="2400"/>
            </a:pPr>
            <a:r>
              <a:t>Human-on-the-loop for scaled low-risk automation</a:t>
            </a:r>
          </a:p>
          <a:p>
            <a:pPr>
              <a:defRPr sz="2400"/>
            </a:pPr>
            <a:r>
              <a:t>Defined escalation thresholds and override authority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Quality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Pre-production evaluations on real tasks</a:t>
            </a:r>
          </a:p>
          <a:p>
            <a:pPr>
              <a:defRPr sz="2400"/>
            </a:pPr>
            <a:r>
              <a:t>Regression tests after model or prompt changes</a:t>
            </a:r>
          </a:p>
          <a:p>
            <a:pPr>
              <a:defRPr sz="2400"/>
            </a:pPr>
            <a:r>
              <a:t>Error budgets and hallucination tolerance per workflow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Defend against prompt injection and data exfiltration</a:t>
            </a:r>
          </a:p>
          <a:p>
            <a:pPr>
              <a:defRPr sz="2400"/>
            </a:pPr>
            <a:r>
              <a:t>Protect against deepfake-enabled fraud in operations</a:t>
            </a:r>
          </a:p>
          <a:p>
            <a:pPr>
              <a:defRPr sz="2400"/>
            </a:pPr>
            <a:r>
              <a:t>Maintain audit logs with privacy-preserving redaction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Readiness: Hidden Bottleneck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Data classification and access controls</a:t>
            </a:r>
          </a:p>
          <a:p>
            <a:pPr>
              <a:defRPr sz="2400"/>
            </a:pPr>
            <a:r>
              <a:t>Metadata, lineage, and document lifecycle hygiene</a:t>
            </a:r>
          </a:p>
          <a:p>
            <a:pPr>
              <a:defRPr sz="2400"/>
            </a:pPr>
            <a:r>
              <a:t>Policy-aligned retention and deletion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vs Buy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Buy for commodity capabilities and speed</a:t>
            </a:r>
          </a:p>
          <a:p>
            <a:pPr>
              <a:defRPr sz="2400"/>
            </a:pPr>
            <a:r>
              <a:t>Build/customize for differentiated workflows and IP</a:t>
            </a:r>
          </a:p>
          <a:p>
            <a:pPr>
              <a:defRPr sz="2400"/>
            </a:pPr>
            <a:r>
              <a:t>Keep model layer portable to reduce lock-in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30/60/90 Day Adoption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30: governance baseline, benchmark harness, use-case selection</a:t>
            </a:r>
          </a:p>
          <a:p>
            <a:pPr>
              <a:defRPr sz="2400"/>
            </a:pPr>
            <a:r>
              <a:t>60: two pilots with production-like security and metrics</a:t>
            </a:r>
          </a:p>
          <a:p>
            <a:pPr>
              <a:defRPr sz="2400"/>
            </a:pPr>
            <a:r>
              <a:t>90: scale one winner, stop one loser, formalize operating model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Use-Case Blueprint 1: Customer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AI triage + response drafting + knowledge retrieval</a:t>
            </a:r>
          </a:p>
          <a:p>
            <a:pPr>
              <a:defRPr sz="2400"/>
            </a:pPr>
            <a:r>
              <a:t>Human escalation for sensitive customer cases</a:t>
            </a:r>
          </a:p>
          <a:p>
            <a:pPr>
              <a:defRPr sz="2400"/>
            </a:pPr>
            <a:r>
              <a:t>KPIs: first response time, deflection, CSAT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Use-Case Blueprint 2: Sales and RFP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RAG-driven proposal drafting and evidence retrieval</a:t>
            </a:r>
          </a:p>
          <a:p>
            <a:pPr>
              <a:defRPr sz="2400"/>
            </a:pPr>
            <a:r>
              <a:t>Compliance/legal checks before external submission</a:t>
            </a:r>
          </a:p>
          <a:p>
            <a:pPr>
              <a:defRPr sz="2400"/>
            </a:pPr>
            <a:r>
              <a:t>KPIs: cycle time, bid quality, win-rate contribution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Use-Case Blueprint 3: Procure-to-Pay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Invoice/contract extraction and policy checks</a:t>
            </a:r>
          </a:p>
          <a:p>
            <a:pPr>
              <a:defRPr sz="2400"/>
            </a:pPr>
            <a:r>
              <a:t>Exception routing with segregation of duties</a:t>
            </a:r>
          </a:p>
          <a:p>
            <a:pPr>
              <a:defRPr sz="2400"/>
            </a:pPr>
            <a:r>
              <a:t>KPIs: processing time, error rate, audit exceptions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Decisions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Approve top 3 use cases and accountable owners</a:t>
            </a:r>
          </a:p>
          <a:p>
            <a:pPr>
              <a:defRPr sz="2400"/>
            </a:pPr>
            <a:r>
              <a:t>Approve governance baseline and risk thresholds</a:t>
            </a:r>
          </a:p>
          <a:p>
            <a:pPr>
              <a:defRPr sz="2400"/>
            </a:pPr>
            <a:r>
              <a:t>Approve architecture principle: multi-model, portable, auditable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