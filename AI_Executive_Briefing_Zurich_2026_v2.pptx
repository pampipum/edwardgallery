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tone: practical, no-hype, decision-useful.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 German: Entscheidungsreife statt Hype.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strategy must update from experimentation to operating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multi-model architecture as default in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business decision, not an ideological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framing practical: impact on pricing, risk, and architecture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Agents succeed only with guardrails and process ownership.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as practical blueprint for controlled autonomy.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Copilots are the on-ramp, not the destination.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RAG quality follows content governance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narrow and scale only after reliability gates are 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Treat AI as a business capability, not a side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Translate legal uncertainty into practical controls and accountability.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escalation triggers before go-live.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Manage models with software-grade QA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trust as a technical and operating requirement.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readiness is typically the #1 bottleneck for RAG programs.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Recommendation: buy commodity, build differentiators, keep model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 German: Nächster Schritt: Entscheidung in 2 Wochen.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Strong first use case due high volume and measurable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Excellent fit for multilingual market contexts in Switzerland.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high-confidence path to measurable back-office ROI.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decision asks and ownership commitments.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863840" y="640080"/>
            <a:ext cx="3749039" cy="5577840"/>
          </a:xfrm>
          <a:prstGeom prst="roundRect">
            <a:avLst/>
          </a:prstGeom>
          <a:solidFill>
            <a:srgbClr val="2A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8778240" y="1828800"/>
            <a:ext cx="2011680" cy="2011680"/>
          </a:xfrm>
          <a:prstGeom prst="donut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676656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Calibri"/>
              </a:defRPr>
            </a:pPr>
            <a:r>
              <a:t>AI in 2026: Practical Adoption for Swiss Mid-Size Enterprises</a:t>
            </a:r>
          </a:p>
          <a:p>
            <a:pPr>
              <a:spcBef>
                <a:spcPts val="1400"/>
              </a:spcBef>
              <a:defRPr sz="2000">
                <a:solidFill>
                  <a:srgbClr val="CADCFC"/>
                </a:solidFill>
                <a:latin typeface="Calibri"/>
              </a:defRPr>
            </a:pPr>
            <a:r>
              <a:t>Executive presentation for a Zurich business audience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ADCFC"/>
                </a:solidFill>
                <a:latin typeface="Calibri"/>
              </a:defRPr>
            </a:pPr>
            <a:r>
              <a:t>Executive briefing • Zurich •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Calibri"/>
              </a:defRPr>
            </a:pPr>
            <a:r>
              <a:t>Executive Thesis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10515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1F293A"/>
                </a:solidFill>
                <a:latin typeface="Calibri"/>
              </a:defRPr>
            </a:pPr>
            <a:r>
              <a:t>AI advantage now comes from execution discipline, not model novelty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154680"/>
            <a:ext cx="10515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1F293A"/>
                </a:solidFill>
                <a:latin typeface="Calibri"/>
              </a:defRPr>
            </a:pPr>
            <a:r>
              <a:t>Use portfolio logic: pilots, stage-gates, scale winners quickly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663440"/>
            <a:ext cx="10515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1F293A"/>
                </a:solidFill>
                <a:latin typeface="Calibri"/>
              </a:defRPr>
            </a:pPr>
            <a:r>
              <a:t>Design governance and security into architecture from day one</a:t>
            </a:r>
          </a:p>
        </p:txBody>
      </p:sp>
      <p:sp>
        <p:nvSpPr>
          <p:cNvPr id="8" name="Oval 7"/>
          <p:cNvSpPr/>
          <p:nvPr/>
        </p:nvSpPr>
        <p:spPr>
          <a:xfrm>
            <a:off x="11155680" y="6035040"/>
            <a:ext cx="320040" cy="32004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E2761"/>
                </a:solidFill>
                <a:latin typeface="Calibri"/>
              </a:defRPr>
            </a:pPr>
            <a:r>
              <a:t>What Changed (2025-2026)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3492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300">
                <a:solidFill>
                  <a:srgbClr val="1E2761"/>
                </a:solidFill>
              </a:defRPr>
            </a:pPr>
            <a:r>
              <a:t>Technology Shift</a:t>
            </a:r>
          </a:p>
          <a:p>
            <a:pPr>
              <a:defRPr sz="1700">
                <a:solidFill>
                  <a:srgbClr val="1F293A"/>
                </a:solidFill>
              </a:defRPr>
            </a:pPr>
            <a:r>
              <a:t>• Tool-capable models improved</a:t>
            </a:r>
          </a:p>
          <a:p>
            <a:pPr>
              <a:defRPr sz="1700">
                <a:solidFill>
                  <a:srgbClr val="1F293A"/>
                </a:solidFill>
              </a:defRPr>
            </a:pPr>
            <a:r>
              <a:t>• Open-weight quality increased</a:t>
            </a:r>
          </a:p>
          <a:p>
            <a:pPr>
              <a:defRPr sz="1700">
                <a:solidFill>
                  <a:srgbClr val="1F293A"/>
                </a:solidFill>
              </a:defRPr>
            </a:pPr>
            <a:r>
              <a:t>• Model costs continue to decline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280160"/>
            <a:ext cx="53492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300">
                <a:solidFill>
                  <a:srgbClr val="1E2761"/>
                </a:solidFill>
              </a:defRPr>
            </a:pPr>
            <a:r>
              <a:t>Business Shift</a:t>
            </a:r>
          </a:p>
          <a:p>
            <a:pPr>
              <a:defRPr sz="1700">
                <a:solidFill>
                  <a:srgbClr val="1F293A"/>
                </a:solidFill>
              </a:defRPr>
            </a:pPr>
            <a:r>
              <a:t>• AI adoption widened</a:t>
            </a:r>
          </a:p>
          <a:p>
            <a:pPr>
              <a:defRPr sz="1700">
                <a:solidFill>
                  <a:srgbClr val="1F293A"/>
                </a:solidFill>
              </a:defRPr>
            </a:pPr>
            <a:r>
              <a:t>• Agent pilots became mainstream</a:t>
            </a:r>
          </a:p>
          <a:p>
            <a:pPr>
              <a:defRPr sz="1700">
                <a:solidFill>
                  <a:srgbClr val="1F293A"/>
                </a:solidFill>
              </a:defRPr>
            </a:pPr>
            <a:r>
              <a:t>• Boards ask for measurable ROI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E2761"/>
                </a:solidFill>
              </a:defRPr>
            </a:pPr>
            <a:r>
              <a:t>Frontier Model Landscape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2761"/>
                </a:solidFill>
              </a:defRPr>
            </a:pPr>
            <a:r>
              <a:t>   Closed Ecosystems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Managed reliability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Integrated tooling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Enterprise packaging</a:t>
            </a:r>
          </a:p>
        </p:txBody>
      </p:sp>
      <p:sp>
        <p:nvSpPr>
          <p:cNvPr id="5" name="Oval 4"/>
          <p:cNvSpPr/>
          <p:nvPr/>
        </p:nvSpPr>
        <p:spPr>
          <a:xfrm>
            <a:off x="960120" y="1600200"/>
            <a:ext cx="411480" cy="41148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17720" y="13716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2761"/>
                </a:solidFill>
              </a:defRPr>
            </a:pPr>
            <a:r>
              <a:t>   Open-Weight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Portability &amp; control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Cost leverage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Faster customization</a:t>
            </a:r>
          </a:p>
        </p:txBody>
      </p:sp>
      <p:sp>
        <p:nvSpPr>
          <p:cNvPr id="7" name="Oval 6"/>
          <p:cNvSpPr/>
          <p:nvPr/>
        </p:nvSpPr>
        <p:spPr>
          <a:xfrm>
            <a:off x="4846320" y="1600200"/>
            <a:ext cx="411480" cy="41148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0" y="13716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2761"/>
                </a:solidFill>
              </a:defRPr>
            </a:pPr>
            <a:r>
              <a:t>   Practical Reality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No single winner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Use workload routing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Benchmark on your data</a:t>
            </a:r>
          </a:p>
        </p:txBody>
      </p:sp>
      <p:sp>
        <p:nvSpPr>
          <p:cNvPr id="9" name="Oval 8"/>
          <p:cNvSpPr/>
          <p:nvPr/>
        </p:nvSpPr>
        <p:spPr>
          <a:xfrm>
            <a:off x="8732520" y="1600200"/>
            <a:ext cx="411480" cy="41148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E2761"/>
                </a:solidFill>
                <a:latin typeface="Calibri"/>
              </a:defRPr>
            </a:pPr>
            <a:r>
              <a:t>Open vs Closed: Decision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3492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300">
                <a:solidFill>
                  <a:srgbClr val="1E2761"/>
                </a:solidFill>
              </a:defRPr>
            </a:pPr>
            <a:r>
              <a:t>Buy Closed When</a:t>
            </a:r>
          </a:p>
          <a:p>
            <a:pPr>
              <a:defRPr sz="1700">
                <a:solidFill>
                  <a:srgbClr val="1F293A"/>
                </a:solidFill>
              </a:defRPr>
            </a:pPr>
            <a:r>
              <a:t>• Speed matters most</a:t>
            </a:r>
          </a:p>
          <a:p>
            <a:pPr>
              <a:defRPr sz="1700">
                <a:solidFill>
                  <a:srgbClr val="1F293A"/>
                </a:solidFill>
              </a:defRPr>
            </a:pPr>
            <a:r>
              <a:t>• Managed controls are sufficient</a:t>
            </a:r>
          </a:p>
          <a:p>
            <a:pPr>
              <a:defRPr sz="1700">
                <a:solidFill>
                  <a:srgbClr val="1F293A"/>
                </a:solidFill>
              </a:defRPr>
            </a:pPr>
            <a:r>
              <a:t>• Internal AI team is small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280160"/>
            <a:ext cx="53492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300">
                <a:solidFill>
                  <a:srgbClr val="1E2761"/>
                </a:solidFill>
              </a:defRPr>
            </a:pPr>
            <a:r>
              <a:t>Prefer Open/Hybrid When</a:t>
            </a:r>
          </a:p>
          <a:p>
            <a:pPr>
              <a:defRPr sz="1700">
                <a:solidFill>
                  <a:srgbClr val="1F293A"/>
                </a:solidFill>
              </a:defRPr>
            </a:pPr>
            <a:r>
              <a:t>• Data control is critical</a:t>
            </a:r>
          </a:p>
          <a:p>
            <a:pPr>
              <a:defRPr sz="1700">
                <a:solidFill>
                  <a:srgbClr val="1F293A"/>
                </a:solidFill>
              </a:defRPr>
            </a:pPr>
            <a:r>
              <a:t>• Need deep customization</a:t>
            </a:r>
          </a:p>
          <a:p>
            <a:pPr>
              <a:defRPr sz="1700">
                <a:solidFill>
                  <a:srgbClr val="1F293A"/>
                </a:solidFill>
              </a:defRPr>
            </a:pPr>
            <a:r>
              <a:t>• Vendor lock-in is unacceptable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E2761"/>
                </a:solidFill>
              </a:defRPr>
            </a:pPr>
            <a:r>
              <a:t>Chinese Model Ecosystem: Why It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2761"/>
                </a:solidFill>
              </a:defRPr>
            </a:pPr>
            <a:r>
              <a:t>   Capability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Rapid progress from Qwen/DeepSeek families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Global benchmark gaps narrowing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Stronger competitive pressure</a:t>
            </a:r>
          </a:p>
        </p:txBody>
      </p:sp>
      <p:sp>
        <p:nvSpPr>
          <p:cNvPr id="5" name="Oval 4"/>
          <p:cNvSpPr/>
          <p:nvPr/>
        </p:nvSpPr>
        <p:spPr>
          <a:xfrm>
            <a:off x="960120" y="1600200"/>
            <a:ext cx="411480" cy="41148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17720" y="13716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2761"/>
                </a:solidFill>
              </a:defRPr>
            </a:pPr>
            <a:r>
              <a:t>   Procurement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Better buyer leverage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More model choices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Need stricter due diligence</a:t>
            </a:r>
          </a:p>
        </p:txBody>
      </p:sp>
      <p:sp>
        <p:nvSpPr>
          <p:cNvPr id="7" name="Oval 6"/>
          <p:cNvSpPr/>
          <p:nvPr/>
        </p:nvSpPr>
        <p:spPr>
          <a:xfrm>
            <a:off x="4846320" y="1600200"/>
            <a:ext cx="411480" cy="41148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0" y="13716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2761"/>
                </a:solidFill>
              </a:defRPr>
            </a:pPr>
            <a:r>
              <a:t>   Risk Lens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Provenance checks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Security controls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Jurisdiction-aware architecture</a:t>
            </a:r>
          </a:p>
        </p:txBody>
      </p:sp>
      <p:sp>
        <p:nvSpPr>
          <p:cNvPr id="9" name="Oval 8"/>
          <p:cNvSpPr/>
          <p:nvPr/>
        </p:nvSpPr>
        <p:spPr>
          <a:xfrm>
            <a:off x="8732520" y="1600200"/>
            <a:ext cx="411480" cy="41148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E2761"/>
                </a:solidFill>
              </a:defRPr>
            </a:pPr>
            <a:r>
              <a:t>The Agent Wave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2761"/>
                </a:solidFill>
              </a:defRPr>
            </a:pPr>
            <a:r>
              <a:t>   From Copilot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Suggests content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Supports human tasks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Limited automation</a:t>
            </a:r>
          </a:p>
        </p:txBody>
      </p:sp>
      <p:sp>
        <p:nvSpPr>
          <p:cNvPr id="5" name="Oval 4"/>
          <p:cNvSpPr/>
          <p:nvPr/>
        </p:nvSpPr>
        <p:spPr>
          <a:xfrm>
            <a:off x="960120" y="1600200"/>
            <a:ext cx="411480" cy="41148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17720" y="13716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2761"/>
                </a:solidFill>
              </a:defRPr>
            </a:pPr>
            <a:r>
              <a:t>   To Agent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Uses tools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Handles multi-step tasks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Requests approvals</a:t>
            </a:r>
          </a:p>
        </p:txBody>
      </p:sp>
      <p:sp>
        <p:nvSpPr>
          <p:cNvPr id="7" name="Oval 6"/>
          <p:cNvSpPr/>
          <p:nvPr/>
        </p:nvSpPr>
        <p:spPr>
          <a:xfrm>
            <a:off x="4846320" y="1600200"/>
            <a:ext cx="411480" cy="41148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0" y="13716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2761"/>
                </a:solidFill>
              </a:defRPr>
            </a:pPr>
            <a:r>
              <a:t>   To Agentic Ops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Cross-system orchestration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Human oversight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Measured business outcomes</a:t>
            </a:r>
          </a:p>
        </p:txBody>
      </p:sp>
      <p:sp>
        <p:nvSpPr>
          <p:cNvPr id="9" name="Oval 8"/>
          <p:cNvSpPr/>
          <p:nvPr/>
        </p:nvSpPr>
        <p:spPr>
          <a:xfrm>
            <a:off x="8732520" y="1600200"/>
            <a:ext cx="411480" cy="41148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E2761"/>
                </a:solidFill>
                <a:latin typeface="Calibri"/>
              </a:defRPr>
            </a:pPr>
            <a:r>
              <a:t>OpenClaw Practical Pattern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3492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300">
                <a:solidFill>
                  <a:srgbClr val="1E2761"/>
                </a:solidFill>
              </a:defRPr>
            </a:pPr>
            <a:r>
              <a:t>Architecture Elements</a:t>
            </a:r>
          </a:p>
          <a:p>
            <a:pPr>
              <a:defRPr sz="1700">
                <a:solidFill>
                  <a:srgbClr val="1F293A"/>
                </a:solidFill>
              </a:defRPr>
            </a:pPr>
            <a:r>
              <a:t>• Tool-enabled agent loop</a:t>
            </a:r>
          </a:p>
          <a:p>
            <a:pPr>
              <a:defRPr sz="1700">
                <a:solidFill>
                  <a:srgbClr val="1F293A"/>
                </a:solidFill>
              </a:defRPr>
            </a:pPr>
            <a:r>
              <a:t>• State and memory handling</a:t>
            </a:r>
          </a:p>
          <a:p>
            <a:pPr>
              <a:defRPr sz="1700">
                <a:solidFill>
                  <a:srgbClr val="1F293A"/>
                </a:solidFill>
              </a:defRPr>
            </a:pPr>
            <a:r>
              <a:t>• Role-based action boundaries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280160"/>
            <a:ext cx="53492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300">
                <a:solidFill>
                  <a:srgbClr val="1E2761"/>
                </a:solidFill>
              </a:defRPr>
            </a:pPr>
            <a:r>
              <a:t>Control Elements</a:t>
            </a:r>
          </a:p>
          <a:p>
            <a:pPr>
              <a:defRPr sz="1700">
                <a:solidFill>
                  <a:srgbClr val="1F293A"/>
                </a:solidFill>
              </a:defRPr>
            </a:pPr>
            <a:r>
              <a:t>• Approval gates for external actions</a:t>
            </a:r>
          </a:p>
          <a:p>
            <a:pPr>
              <a:defRPr sz="1700">
                <a:solidFill>
                  <a:srgbClr val="1F293A"/>
                </a:solidFill>
              </a:defRPr>
            </a:pPr>
            <a:r>
              <a:t>• Audit trail for each run</a:t>
            </a:r>
          </a:p>
          <a:p>
            <a:pPr>
              <a:defRPr sz="1700">
                <a:solidFill>
                  <a:srgbClr val="1F293A"/>
                </a:solidFill>
              </a:defRPr>
            </a:pPr>
            <a:r>
              <a:t>• Fallback to human operator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E2761"/>
                </a:solidFill>
              </a:defRPr>
            </a:pPr>
            <a:r>
              <a:t>Enterprise Pattern 1: Copilots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2761"/>
                </a:solidFill>
              </a:defRPr>
            </a:pPr>
            <a:r>
              <a:t>   Best Fit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Personal productivity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Drafting and summarization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Internal assistance</a:t>
            </a:r>
          </a:p>
        </p:txBody>
      </p:sp>
      <p:sp>
        <p:nvSpPr>
          <p:cNvPr id="5" name="Oval 4"/>
          <p:cNvSpPr/>
          <p:nvPr/>
        </p:nvSpPr>
        <p:spPr>
          <a:xfrm>
            <a:off x="960120" y="1600200"/>
            <a:ext cx="411480" cy="41148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17720" y="13716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2761"/>
                </a:solidFill>
              </a:defRPr>
            </a:pPr>
            <a:r>
              <a:t>   Strength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Fast deployment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Low integration effort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Quick visible wins</a:t>
            </a:r>
          </a:p>
        </p:txBody>
      </p:sp>
      <p:sp>
        <p:nvSpPr>
          <p:cNvPr id="7" name="Oval 6"/>
          <p:cNvSpPr/>
          <p:nvPr/>
        </p:nvSpPr>
        <p:spPr>
          <a:xfrm>
            <a:off x="4846320" y="1600200"/>
            <a:ext cx="411480" cy="41148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0" y="13716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2761"/>
                </a:solidFill>
              </a:defRPr>
            </a:pPr>
            <a:r>
              <a:t>   Constraint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Shallow process impact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Harder ROI attribution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Can create shadow AI</a:t>
            </a:r>
          </a:p>
        </p:txBody>
      </p:sp>
      <p:sp>
        <p:nvSpPr>
          <p:cNvPr id="9" name="Oval 8"/>
          <p:cNvSpPr/>
          <p:nvPr/>
        </p:nvSpPr>
        <p:spPr>
          <a:xfrm>
            <a:off x="8732520" y="1600200"/>
            <a:ext cx="411480" cy="41148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E2761"/>
                </a:solidFill>
              </a:defRPr>
            </a:pPr>
            <a:r>
              <a:t>Enterprise Pattern 2: RAG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2761"/>
                </a:solidFill>
              </a:defRPr>
            </a:pPr>
            <a:r>
              <a:t>   Best Fit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Policy-heavy Q&amp;A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Knowledge retrieval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Support use cases</a:t>
            </a:r>
          </a:p>
        </p:txBody>
      </p:sp>
      <p:sp>
        <p:nvSpPr>
          <p:cNvPr id="5" name="Oval 4"/>
          <p:cNvSpPr/>
          <p:nvPr/>
        </p:nvSpPr>
        <p:spPr>
          <a:xfrm>
            <a:off x="960120" y="1600200"/>
            <a:ext cx="411480" cy="41148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17720" y="13716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2761"/>
                </a:solidFill>
              </a:defRPr>
            </a:pPr>
            <a:r>
              <a:t>   Strength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Grounded responses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Better traceability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Faster ramp-up than full automation</a:t>
            </a:r>
          </a:p>
        </p:txBody>
      </p:sp>
      <p:sp>
        <p:nvSpPr>
          <p:cNvPr id="7" name="Oval 6"/>
          <p:cNvSpPr/>
          <p:nvPr/>
        </p:nvSpPr>
        <p:spPr>
          <a:xfrm>
            <a:off x="4846320" y="1600200"/>
            <a:ext cx="411480" cy="41148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0" y="13716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2761"/>
                </a:solidFill>
              </a:defRPr>
            </a:pPr>
            <a:r>
              <a:t>   Constraint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Dependent on data quality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Index governance needed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Permission model is critical</a:t>
            </a:r>
          </a:p>
        </p:txBody>
      </p:sp>
      <p:sp>
        <p:nvSpPr>
          <p:cNvPr id="9" name="Oval 8"/>
          <p:cNvSpPr/>
          <p:nvPr/>
        </p:nvSpPr>
        <p:spPr>
          <a:xfrm>
            <a:off x="8732520" y="1600200"/>
            <a:ext cx="411480" cy="41148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E2761"/>
                </a:solidFill>
              </a:defRPr>
            </a:pPr>
            <a:r>
              <a:t>Enterprise Pattern 3: Agentic Workflows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2761"/>
                </a:solidFill>
              </a:defRPr>
            </a:pPr>
            <a:r>
              <a:t>   Best Fit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Repeatable multi-step operations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Cross-system tasks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High-volume back office flows</a:t>
            </a:r>
          </a:p>
        </p:txBody>
      </p:sp>
      <p:sp>
        <p:nvSpPr>
          <p:cNvPr id="5" name="Oval 4"/>
          <p:cNvSpPr/>
          <p:nvPr/>
        </p:nvSpPr>
        <p:spPr>
          <a:xfrm>
            <a:off x="960120" y="1600200"/>
            <a:ext cx="411480" cy="41148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17720" y="13716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2761"/>
                </a:solidFill>
              </a:defRPr>
            </a:pPr>
            <a:r>
              <a:t>   Strength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Largest value potential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End-to-end cycle reduction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Process-level learning</a:t>
            </a:r>
          </a:p>
        </p:txBody>
      </p:sp>
      <p:sp>
        <p:nvSpPr>
          <p:cNvPr id="7" name="Oval 6"/>
          <p:cNvSpPr/>
          <p:nvPr/>
        </p:nvSpPr>
        <p:spPr>
          <a:xfrm>
            <a:off x="4846320" y="1600200"/>
            <a:ext cx="411480" cy="41148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0" y="13716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2761"/>
                </a:solidFill>
              </a:defRPr>
            </a:pPr>
            <a:r>
              <a:t>   Constraint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Higher governance burden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Needs observability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Requires robust exception handling</a:t>
            </a:r>
          </a:p>
        </p:txBody>
      </p:sp>
      <p:sp>
        <p:nvSpPr>
          <p:cNvPr id="9" name="Oval 8"/>
          <p:cNvSpPr/>
          <p:nvPr/>
        </p:nvSpPr>
        <p:spPr>
          <a:xfrm>
            <a:off x="8732520" y="1600200"/>
            <a:ext cx="411480" cy="41148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E2761"/>
                </a:solidFill>
                <a:latin typeface="Calibri"/>
              </a:defRPr>
            </a:pPr>
            <a:r>
              <a:t>AI Operating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3492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300">
                <a:solidFill>
                  <a:srgbClr val="1E2761"/>
                </a:solidFill>
              </a:defRPr>
            </a:pPr>
            <a:r>
              <a:t>Core Roles</a:t>
            </a:r>
          </a:p>
          <a:p>
            <a:pPr>
              <a:defRPr sz="1700">
                <a:solidFill>
                  <a:srgbClr val="1F293A"/>
                </a:solidFill>
              </a:defRPr>
            </a:pPr>
            <a:r>
              <a:t>• Business owner</a:t>
            </a:r>
          </a:p>
          <a:p>
            <a:pPr>
              <a:defRPr sz="1700">
                <a:solidFill>
                  <a:srgbClr val="1F293A"/>
                </a:solidFill>
              </a:defRPr>
            </a:pPr>
            <a:r>
              <a:t>• AI platform lead</a:t>
            </a:r>
          </a:p>
          <a:p>
            <a:pPr>
              <a:defRPr sz="1700">
                <a:solidFill>
                  <a:srgbClr val="1F293A"/>
                </a:solidFill>
              </a:defRPr>
            </a:pPr>
            <a:r>
              <a:t>• Risk/compliance partner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280160"/>
            <a:ext cx="53492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300">
                <a:solidFill>
                  <a:srgbClr val="1E2761"/>
                </a:solidFill>
              </a:defRPr>
            </a:pPr>
            <a:r>
              <a:t>Management Cadence</a:t>
            </a:r>
          </a:p>
          <a:p>
            <a:pPr>
              <a:defRPr sz="1700">
                <a:solidFill>
                  <a:srgbClr val="1F293A"/>
                </a:solidFill>
              </a:defRPr>
            </a:pPr>
            <a:r>
              <a:t>• Monthly risk-review</a:t>
            </a:r>
          </a:p>
          <a:p>
            <a:pPr>
              <a:defRPr sz="1700">
                <a:solidFill>
                  <a:srgbClr val="1F293A"/>
                </a:solidFill>
              </a:defRPr>
            </a:pPr>
            <a:r>
              <a:t>• Quarterly value portfolio review</a:t>
            </a:r>
          </a:p>
          <a:p>
            <a:pPr>
              <a:defRPr sz="1700">
                <a:solidFill>
                  <a:srgbClr val="1F293A"/>
                </a:solidFill>
              </a:defRPr>
            </a:pPr>
            <a:r>
              <a:t>• Clear stop/scale criteria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E2761"/>
                </a:solidFill>
              </a:defRPr>
            </a:pPr>
            <a:r>
              <a:t>EU + Swiss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2761"/>
                </a:solidFill>
              </a:defRPr>
            </a:pPr>
            <a:r>
              <a:t>   EU AI Act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Phased obligations 2025-2027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High-risk and transparency duties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GPAI obligations active</a:t>
            </a:r>
          </a:p>
        </p:txBody>
      </p:sp>
      <p:sp>
        <p:nvSpPr>
          <p:cNvPr id="5" name="Oval 4"/>
          <p:cNvSpPr/>
          <p:nvPr/>
        </p:nvSpPr>
        <p:spPr>
          <a:xfrm>
            <a:off x="960120" y="1600200"/>
            <a:ext cx="411480" cy="41148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17720" y="13716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2761"/>
                </a:solidFill>
              </a:defRPr>
            </a:pPr>
            <a:r>
              <a:t>   Switzerland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FADP already applies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Convention-aligned implementation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Sector-specific guidance evolving</a:t>
            </a:r>
          </a:p>
        </p:txBody>
      </p:sp>
      <p:sp>
        <p:nvSpPr>
          <p:cNvPr id="7" name="Oval 6"/>
          <p:cNvSpPr/>
          <p:nvPr/>
        </p:nvSpPr>
        <p:spPr>
          <a:xfrm>
            <a:off x="4846320" y="1600200"/>
            <a:ext cx="411480" cy="41148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0" y="13716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2761"/>
                </a:solidFill>
              </a:defRPr>
            </a:pPr>
            <a:r>
              <a:t>   Action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Implement controls now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Maintain legal watchlist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Document oversight decisions</a:t>
            </a:r>
          </a:p>
        </p:txBody>
      </p:sp>
      <p:sp>
        <p:nvSpPr>
          <p:cNvPr id="9" name="Oval 8"/>
          <p:cNvSpPr/>
          <p:nvPr/>
        </p:nvSpPr>
        <p:spPr>
          <a:xfrm>
            <a:off x="8732520" y="1600200"/>
            <a:ext cx="411480" cy="41148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E2761"/>
                </a:solidFill>
                <a:latin typeface="Calibri"/>
              </a:defRPr>
            </a:pPr>
            <a:r>
              <a:t>Human Oversight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3492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300">
                <a:solidFill>
                  <a:srgbClr val="1E2761"/>
                </a:solidFill>
              </a:defRPr>
            </a:pPr>
            <a:r>
              <a:t>Human-in-the-Loop</a:t>
            </a:r>
          </a:p>
          <a:p>
            <a:pPr>
              <a:defRPr sz="1700">
                <a:solidFill>
                  <a:srgbClr val="1F293A"/>
                </a:solidFill>
              </a:defRPr>
            </a:pPr>
            <a:r>
              <a:t>• Legal/financial commitments</a:t>
            </a:r>
          </a:p>
          <a:p>
            <a:pPr>
              <a:defRPr sz="1700">
                <a:solidFill>
                  <a:srgbClr val="1F293A"/>
                </a:solidFill>
              </a:defRPr>
            </a:pPr>
            <a:r>
              <a:t>• Customer-impact decisions</a:t>
            </a:r>
          </a:p>
          <a:p>
            <a:pPr>
              <a:defRPr sz="1700">
                <a:solidFill>
                  <a:srgbClr val="1F293A"/>
                </a:solidFill>
              </a:defRPr>
            </a:pPr>
            <a:r>
              <a:t>• Sensitive communications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280160"/>
            <a:ext cx="53492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300">
                <a:solidFill>
                  <a:srgbClr val="1E2761"/>
                </a:solidFill>
              </a:defRPr>
            </a:pPr>
            <a:r>
              <a:t>Human-on-the-Loop</a:t>
            </a:r>
          </a:p>
          <a:p>
            <a:pPr>
              <a:defRPr sz="1700">
                <a:solidFill>
                  <a:srgbClr val="1F293A"/>
                </a:solidFill>
              </a:defRPr>
            </a:pPr>
            <a:r>
              <a:t>• Low-risk repetitive tasks</a:t>
            </a:r>
          </a:p>
          <a:p>
            <a:pPr>
              <a:defRPr sz="1700">
                <a:solidFill>
                  <a:srgbClr val="1F293A"/>
                </a:solidFill>
              </a:defRPr>
            </a:pPr>
            <a:r>
              <a:t>• Exception monitoring</a:t>
            </a:r>
          </a:p>
          <a:p>
            <a:pPr>
              <a:defRPr sz="1700">
                <a:solidFill>
                  <a:srgbClr val="1F293A"/>
                </a:solidFill>
              </a:defRPr>
            </a:pPr>
            <a:r>
              <a:t>• Threshold-based intervention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E2761"/>
                </a:solidFill>
              </a:defRPr>
            </a:pPr>
            <a:r>
              <a:t>AI Quality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2761"/>
                </a:solidFill>
              </a:defRPr>
            </a:pPr>
            <a:r>
              <a:t>   Pre-Prod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Golden datasets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Task-specific benchmarks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Failure mode tests</a:t>
            </a:r>
          </a:p>
        </p:txBody>
      </p:sp>
      <p:sp>
        <p:nvSpPr>
          <p:cNvPr id="5" name="Oval 4"/>
          <p:cNvSpPr/>
          <p:nvPr/>
        </p:nvSpPr>
        <p:spPr>
          <a:xfrm>
            <a:off x="960120" y="1600200"/>
            <a:ext cx="411480" cy="41148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17720" y="13716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2761"/>
                </a:solidFill>
              </a:defRPr>
            </a:pPr>
            <a:r>
              <a:t>   Post-Release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Regression suite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Drift monitoring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Model update playbooks</a:t>
            </a:r>
          </a:p>
        </p:txBody>
      </p:sp>
      <p:sp>
        <p:nvSpPr>
          <p:cNvPr id="7" name="Oval 6"/>
          <p:cNvSpPr/>
          <p:nvPr/>
        </p:nvSpPr>
        <p:spPr>
          <a:xfrm>
            <a:off x="4846320" y="1600200"/>
            <a:ext cx="411480" cy="41148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0" y="13716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2761"/>
                </a:solidFill>
              </a:defRPr>
            </a:pPr>
            <a:r>
              <a:t>   Metrics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Accuracy and latency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Error budget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Human correction rate</a:t>
            </a:r>
          </a:p>
        </p:txBody>
      </p:sp>
      <p:sp>
        <p:nvSpPr>
          <p:cNvPr id="9" name="Oval 8"/>
          <p:cNvSpPr/>
          <p:nvPr/>
        </p:nvSpPr>
        <p:spPr>
          <a:xfrm>
            <a:off x="8732520" y="1600200"/>
            <a:ext cx="411480" cy="41148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E2761"/>
                </a:solidFill>
              </a:defRPr>
            </a:pPr>
            <a:r>
              <a:t>Security and Trust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2761"/>
                </a:solidFill>
              </a:defRPr>
            </a:pPr>
            <a:r>
              <a:t>   Threats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Prompt injection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Data leakage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Identity/deepfake fraud</a:t>
            </a:r>
          </a:p>
        </p:txBody>
      </p:sp>
      <p:sp>
        <p:nvSpPr>
          <p:cNvPr id="5" name="Oval 4"/>
          <p:cNvSpPr/>
          <p:nvPr/>
        </p:nvSpPr>
        <p:spPr>
          <a:xfrm>
            <a:off x="960120" y="1600200"/>
            <a:ext cx="411480" cy="41148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17720" y="13716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2761"/>
                </a:solidFill>
              </a:defRPr>
            </a:pPr>
            <a:r>
              <a:t>   Controls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Input/output filtering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Least-privilege tools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Runtime policy checks</a:t>
            </a:r>
          </a:p>
        </p:txBody>
      </p:sp>
      <p:sp>
        <p:nvSpPr>
          <p:cNvPr id="7" name="Oval 6"/>
          <p:cNvSpPr/>
          <p:nvPr/>
        </p:nvSpPr>
        <p:spPr>
          <a:xfrm>
            <a:off x="4846320" y="1600200"/>
            <a:ext cx="411480" cy="41148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0" y="13716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2761"/>
                </a:solidFill>
              </a:defRPr>
            </a:pPr>
            <a:r>
              <a:t>   Response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Incident playbooks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Traceable logs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Fast rollback capability</a:t>
            </a:r>
          </a:p>
        </p:txBody>
      </p:sp>
      <p:sp>
        <p:nvSpPr>
          <p:cNvPr id="9" name="Oval 8"/>
          <p:cNvSpPr/>
          <p:nvPr/>
        </p:nvSpPr>
        <p:spPr>
          <a:xfrm>
            <a:off x="8732520" y="1600200"/>
            <a:ext cx="411480" cy="41148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E2761"/>
                </a:solidFill>
                <a:latin typeface="Calibri"/>
              </a:defRPr>
            </a:pPr>
            <a:r>
              <a:t>Data Readiness Checklist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3492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300">
                <a:solidFill>
                  <a:srgbClr val="1E2761"/>
                </a:solidFill>
              </a:defRPr>
            </a:pPr>
            <a:r>
              <a:t>Must Have</a:t>
            </a:r>
          </a:p>
          <a:p>
            <a:pPr>
              <a:defRPr sz="1700">
                <a:solidFill>
                  <a:srgbClr val="1F293A"/>
                </a:solidFill>
              </a:defRPr>
            </a:pPr>
            <a:r>
              <a:t>• Data classification</a:t>
            </a:r>
          </a:p>
          <a:p>
            <a:pPr>
              <a:defRPr sz="1700">
                <a:solidFill>
                  <a:srgbClr val="1F293A"/>
                </a:solidFill>
              </a:defRPr>
            </a:pPr>
            <a:r>
              <a:t>• Access and retention policy</a:t>
            </a:r>
          </a:p>
          <a:p>
            <a:pPr>
              <a:defRPr sz="1700">
                <a:solidFill>
                  <a:srgbClr val="1F293A"/>
                </a:solidFill>
              </a:defRPr>
            </a:pPr>
            <a:r>
              <a:t>• Metadata and lineage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280160"/>
            <a:ext cx="53492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300">
                <a:solidFill>
                  <a:srgbClr val="1E2761"/>
                </a:solidFill>
              </a:defRPr>
            </a:pPr>
            <a:r>
              <a:t>Common Gaps</a:t>
            </a:r>
          </a:p>
          <a:p>
            <a:pPr>
              <a:defRPr sz="1700">
                <a:solidFill>
                  <a:srgbClr val="1F293A"/>
                </a:solidFill>
              </a:defRPr>
            </a:pPr>
            <a:r>
              <a:t>• Stale documents</a:t>
            </a:r>
          </a:p>
          <a:p>
            <a:pPr>
              <a:defRPr sz="1700">
                <a:solidFill>
                  <a:srgbClr val="1F293A"/>
                </a:solidFill>
              </a:defRPr>
            </a:pPr>
            <a:r>
              <a:t>• Permission mismatches</a:t>
            </a:r>
          </a:p>
          <a:p>
            <a:pPr>
              <a:defRPr sz="1700">
                <a:solidFill>
                  <a:srgbClr val="1F293A"/>
                </a:solidFill>
              </a:defRPr>
            </a:pPr>
            <a:r>
              <a:t>• Unowned data domains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E2761"/>
                </a:solidFill>
              </a:defRPr>
            </a:pPr>
            <a:r>
              <a:t>Build vs Buy: 6-Gate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2761"/>
                </a:solidFill>
              </a:defRPr>
            </a:pPr>
            <a:r>
              <a:t>   Strategic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Differentiation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IP sensitivity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Reversibility</a:t>
            </a:r>
          </a:p>
        </p:txBody>
      </p:sp>
      <p:sp>
        <p:nvSpPr>
          <p:cNvPr id="5" name="Oval 4"/>
          <p:cNvSpPr/>
          <p:nvPr/>
        </p:nvSpPr>
        <p:spPr>
          <a:xfrm>
            <a:off x="960120" y="1600200"/>
            <a:ext cx="411480" cy="41148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17720" y="13716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2761"/>
                </a:solidFill>
              </a:defRPr>
            </a:pPr>
            <a:r>
              <a:t>   Operational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Integration depth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Talent availability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Time-to-value</a:t>
            </a:r>
          </a:p>
        </p:txBody>
      </p:sp>
      <p:sp>
        <p:nvSpPr>
          <p:cNvPr id="7" name="Oval 6"/>
          <p:cNvSpPr/>
          <p:nvPr/>
        </p:nvSpPr>
        <p:spPr>
          <a:xfrm>
            <a:off x="4846320" y="1600200"/>
            <a:ext cx="411480" cy="41148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0" y="13716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2761"/>
                </a:solidFill>
              </a:defRPr>
            </a:pPr>
            <a:r>
              <a:t>   Economic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24-month TCO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Run-cost volatility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Vendor dependence risk</a:t>
            </a:r>
          </a:p>
        </p:txBody>
      </p:sp>
      <p:sp>
        <p:nvSpPr>
          <p:cNvPr id="9" name="Oval 8"/>
          <p:cNvSpPr/>
          <p:nvPr/>
        </p:nvSpPr>
        <p:spPr>
          <a:xfrm>
            <a:off x="8732520" y="1600200"/>
            <a:ext cx="411480" cy="41148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E2761"/>
                </a:solidFill>
              </a:defRPr>
            </a:pPr>
            <a:r>
              <a:t>30/60/90 Day Adoption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3246120"/>
            <a:ext cx="9875520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2926080"/>
            <a:ext cx="685800" cy="68580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07592" y="308152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463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1E2761"/>
                </a:solidFill>
              </a:defRPr>
            </a:pPr>
            <a:r>
              <a:t>Day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59" y="379476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F293A"/>
                </a:solidFill>
              </a:defRPr>
            </a:pPr>
            <a:r>
              <a:t>Select top 3 use cases and governance baseline</a:t>
            </a:r>
          </a:p>
        </p:txBody>
      </p:sp>
      <p:sp>
        <p:nvSpPr>
          <p:cNvPr id="9" name="Oval 8"/>
          <p:cNvSpPr/>
          <p:nvPr/>
        </p:nvSpPr>
        <p:spPr>
          <a:xfrm>
            <a:off x="4206240" y="2926080"/>
            <a:ext cx="685800" cy="68580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308152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1828800"/>
            <a:ext cx="1463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1E2761"/>
                </a:solidFill>
              </a:defRPr>
            </a:pPr>
            <a:r>
              <a:t>Day 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79476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F293A"/>
                </a:solidFill>
              </a:defRPr>
            </a:pPr>
            <a:r>
              <a:t>Run two secure pilots with KPI instrumentation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0" y="2926080"/>
            <a:ext cx="685800" cy="68580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308152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828800"/>
            <a:ext cx="1463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1E2761"/>
                </a:solidFill>
              </a:defRPr>
            </a:pPr>
            <a:r>
              <a:t>Day 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79476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F293A"/>
                </a:solidFill>
              </a:defRPr>
            </a:pPr>
            <a:r>
              <a:t>Scale one winner and formalize operating model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E2761"/>
                </a:solidFill>
              </a:defRPr>
            </a:pPr>
            <a:r>
              <a:t>Use-Case Blueprint 1: Customer Service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2761"/>
                </a:solidFill>
              </a:defRPr>
            </a:pPr>
            <a:r>
              <a:t>   Scope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AI triage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Drafted responses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Knowledge retrieval</a:t>
            </a:r>
          </a:p>
        </p:txBody>
      </p:sp>
      <p:sp>
        <p:nvSpPr>
          <p:cNvPr id="5" name="Oval 4"/>
          <p:cNvSpPr/>
          <p:nvPr/>
        </p:nvSpPr>
        <p:spPr>
          <a:xfrm>
            <a:off x="960120" y="1600200"/>
            <a:ext cx="411480" cy="41148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17720" y="13716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2761"/>
                </a:solidFill>
              </a:defRPr>
            </a:pPr>
            <a:r>
              <a:t>   Controls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PII masking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Escalation to human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Confidence thresholds</a:t>
            </a:r>
          </a:p>
        </p:txBody>
      </p:sp>
      <p:sp>
        <p:nvSpPr>
          <p:cNvPr id="7" name="Oval 6"/>
          <p:cNvSpPr/>
          <p:nvPr/>
        </p:nvSpPr>
        <p:spPr>
          <a:xfrm>
            <a:off x="4846320" y="1600200"/>
            <a:ext cx="411480" cy="41148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0" y="13716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2761"/>
                </a:solidFill>
              </a:defRPr>
            </a:pPr>
            <a:r>
              <a:t>   KPIs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First response time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Deflection rate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CSAT movement</a:t>
            </a:r>
          </a:p>
        </p:txBody>
      </p:sp>
      <p:sp>
        <p:nvSpPr>
          <p:cNvPr id="9" name="Oval 8"/>
          <p:cNvSpPr/>
          <p:nvPr/>
        </p:nvSpPr>
        <p:spPr>
          <a:xfrm>
            <a:off x="8732520" y="1600200"/>
            <a:ext cx="411480" cy="41148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E2761"/>
                </a:solidFill>
              </a:defRPr>
            </a:pPr>
            <a:r>
              <a:t>Use-Case Blueprint 2: Sales / RFP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2761"/>
                </a:solidFill>
              </a:defRPr>
            </a:pPr>
            <a:r>
              <a:t>   Scope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RAG-powered proposal drafting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Evidence retrieval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Versioned collaboration</a:t>
            </a:r>
          </a:p>
        </p:txBody>
      </p:sp>
      <p:sp>
        <p:nvSpPr>
          <p:cNvPr id="5" name="Oval 4"/>
          <p:cNvSpPr/>
          <p:nvPr/>
        </p:nvSpPr>
        <p:spPr>
          <a:xfrm>
            <a:off x="960120" y="1600200"/>
            <a:ext cx="411480" cy="41148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17720" y="13716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2761"/>
                </a:solidFill>
              </a:defRPr>
            </a:pPr>
            <a:r>
              <a:t>   Controls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Legal/compliance approval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Source citation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Final human sign-off</a:t>
            </a:r>
          </a:p>
        </p:txBody>
      </p:sp>
      <p:sp>
        <p:nvSpPr>
          <p:cNvPr id="7" name="Oval 6"/>
          <p:cNvSpPr/>
          <p:nvPr/>
        </p:nvSpPr>
        <p:spPr>
          <a:xfrm>
            <a:off x="4846320" y="1600200"/>
            <a:ext cx="411480" cy="41148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0" y="13716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2761"/>
                </a:solidFill>
              </a:defRPr>
            </a:pPr>
            <a:r>
              <a:t>   KPIs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Cycle-time reduction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Bid quality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Win-rate contribution</a:t>
            </a:r>
          </a:p>
        </p:txBody>
      </p:sp>
      <p:sp>
        <p:nvSpPr>
          <p:cNvPr id="9" name="Oval 8"/>
          <p:cNvSpPr/>
          <p:nvPr/>
        </p:nvSpPr>
        <p:spPr>
          <a:xfrm>
            <a:off x="8732520" y="1600200"/>
            <a:ext cx="411480" cy="41148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E2761"/>
                </a:solidFill>
              </a:defRPr>
            </a:pPr>
            <a:r>
              <a:t>Use-Case Blueprint 3: Procure-to-Pay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2761"/>
                </a:solidFill>
              </a:defRPr>
            </a:pPr>
            <a:r>
              <a:t>   Scope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Invoice extraction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Policy checks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Exception routing</a:t>
            </a:r>
          </a:p>
        </p:txBody>
      </p:sp>
      <p:sp>
        <p:nvSpPr>
          <p:cNvPr id="5" name="Oval 4"/>
          <p:cNvSpPr/>
          <p:nvPr/>
        </p:nvSpPr>
        <p:spPr>
          <a:xfrm>
            <a:off x="960120" y="1600200"/>
            <a:ext cx="411480" cy="41148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17720" y="13716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2761"/>
                </a:solidFill>
              </a:defRPr>
            </a:pPr>
            <a:r>
              <a:t>   Controls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Segregation of duties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Threshold approvals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Audit logs</a:t>
            </a:r>
          </a:p>
        </p:txBody>
      </p:sp>
      <p:sp>
        <p:nvSpPr>
          <p:cNvPr id="7" name="Oval 6"/>
          <p:cNvSpPr/>
          <p:nvPr/>
        </p:nvSpPr>
        <p:spPr>
          <a:xfrm>
            <a:off x="4846320" y="1600200"/>
            <a:ext cx="411480" cy="41148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0" y="13716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2761"/>
                </a:solidFill>
              </a:defRPr>
            </a:pPr>
            <a:r>
              <a:t>   KPIs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Processing time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Error rate</a:t>
            </a:r>
          </a:p>
          <a:p>
            <a:pPr>
              <a:defRPr sz="1600">
                <a:solidFill>
                  <a:srgbClr val="1F293A"/>
                </a:solidFill>
              </a:defRPr>
            </a:pPr>
            <a:r>
              <a:t>• Audit exceptions</a:t>
            </a:r>
          </a:p>
        </p:txBody>
      </p:sp>
      <p:sp>
        <p:nvSpPr>
          <p:cNvPr id="9" name="Oval 8"/>
          <p:cNvSpPr/>
          <p:nvPr/>
        </p:nvSpPr>
        <p:spPr>
          <a:xfrm>
            <a:off x="8732520" y="1600200"/>
            <a:ext cx="411480" cy="411480"/>
          </a:xfrm>
          <a:prstGeom prst="ellipse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863840" y="640080"/>
            <a:ext cx="3749039" cy="5577840"/>
          </a:xfrm>
          <a:prstGeom prst="roundRect">
            <a:avLst/>
          </a:prstGeom>
          <a:solidFill>
            <a:srgbClr val="2A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8778240" y="1828800"/>
            <a:ext cx="2011680" cy="2011680"/>
          </a:xfrm>
          <a:prstGeom prst="donut">
            <a:avLst/>
          </a:prstGeom>
          <a:solidFill>
            <a:srgbClr val="2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676656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Calibri"/>
              </a:defRPr>
            </a:pPr>
            <a:r>
              <a:t>Executive Decisions Required This Month</a:t>
            </a:r>
          </a:p>
          <a:p>
            <a:pPr>
              <a:spcBef>
                <a:spcPts val="1400"/>
              </a:spcBef>
              <a:defRPr sz="2000">
                <a:solidFill>
                  <a:srgbClr val="CADCFC"/>
                </a:solidFill>
                <a:latin typeface="Calibri"/>
              </a:defRPr>
            </a:pPr>
            <a:r>
              <a:t>1) Approve 3 use cases  2) Approve governance baseline  3) Approve portable multi-model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ADCFC"/>
                </a:solidFill>
                <a:latin typeface="Calibri"/>
              </a:defRPr>
            </a:pPr>
            <a:r>
              <a:t>Executive briefing • Zurich •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